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2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56E83A9-7449-400C-8C13-B9B09610D218}" type="datetimeFigureOut">
              <a:rPr lang="sv-SE" smtClean="0"/>
              <a:t>2019-03-04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3544761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6E83A9-7449-400C-8C13-B9B09610D218}" type="datetimeFigureOut">
              <a:rPr lang="sv-SE" smtClean="0"/>
              <a:t>2019-03-04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1094042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6E83A9-7449-400C-8C13-B9B09610D218}" type="datetimeFigureOut">
              <a:rPr lang="sv-SE" smtClean="0"/>
              <a:t>2019-03-04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462040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1253973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56E83A9-7449-400C-8C13-B9B09610D218}" type="datetimeFigureOut">
              <a:rPr lang="sv-SE" smtClean="0"/>
              <a:t>2019-03-04</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3769864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56E83A9-7449-400C-8C13-B9B09610D218}" type="datetimeFigureOut">
              <a:rPr lang="sv-SE" smtClean="0"/>
              <a:t>2019-03-04</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759993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256E83A9-7449-400C-8C13-B9B09610D218}" type="datetimeFigureOut">
              <a:rPr lang="sv-SE" smtClean="0"/>
              <a:t>2019-03-04</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4040111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3042033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261955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1616542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3222114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03294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6E83A9-7449-400C-8C13-B9B09610D218}" type="datetimeFigureOut">
              <a:rPr lang="sv-SE" smtClean="0"/>
              <a:t>2019-03-04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141143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56E83A9-7449-400C-8C13-B9B09610D218}" type="datetimeFigureOut">
              <a:rPr lang="sv-SE" smtClean="0"/>
              <a:t>2019-03-04</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2092764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56E83A9-7449-400C-8C13-B9B09610D218}" type="datetimeFigureOut">
              <a:rPr lang="sv-SE" smtClean="0"/>
              <a:t>2019-03-04</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365412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6E83A9-7449-400C-8C13-B9B09610D218}" type="datetimeFigureOut">
              <a:rPr lang="sv-SE" smtClean="0"/>
              <a:t>2019-03-04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2566037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6E83A9-7449-400C-8C13-B9B09610D218}" type="datetimeFigureOut">
              <a:rPr lang="sv-SE" smtClean="0"/>
              <a:t>2019-03-04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C009FFF6-2FA4-4F46-B1CC-558EE20B2731}" type="slidenum">
              <a:rPr lang="sv-SE" smtClean="0"/>
              <a:t>‹#›</a:t>
            </a:fld>
            <a:endParaRPr lang="sv-SE"/>
          </a:p>
        </p:txBody>
      </p:sp>
    </p:spTree>
    <p:extLst>
      <p:ext uri="{BB962C8B-B14F-4D97-AF65-F5344CB8AC3E}">
        <p14:creationId xmlns:p14="http://schemas.microsoft.com/office/powerpoint/2010/main" val="206204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256E83A9-7449-400C-8C13-B9B09610D218}" type="datetimeFigureOut">
              <a:rPr lang="sv-SE" smtClean="0"/>
              <a:t>2019-03-04</a:t>
            </a:fld>
            <a:endParaRPr lang="sv-SE"/>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sv-SE"/>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C009FFF6-2FA4-4F46-B1CC-558EE20B2731}" type="slidenum">
              <a:rPr lang="sv-SE" smtClean="0"/>
              <a:t>‹#›</a:t>
            </a:fld>
            <a:endParaRPr lang="sv-SE"/>
          </a:p>
        </p:txBody>
      </p:sp>
    </p:spTree>
    <p:extLst>
      <p:ext uri="{BB962C8B-B14F-4D97-AF65-F5344CB8AC3E}">
        <p14:creationId xmlns:p14="http://schemas.microsoft.com/office/powerpoint/2010/main" val="769855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872692"/>
          </a:xfrm>
        </p:spPr>
        <p:txBody>
          <a:bodyPr>
            <a:normAutofit/>
          </a:bodyPr>
          <a:lstStyle/>
          <a:p>
            <a:r>
              <a:rPr lang="sv-SE" b="1" dirty="0" smtClean="0"/>
              <a:t>Skeppsdagboken</a:t>
            </a:r>
            <a:endParaRPr lang="sv-SE" b="1" dirty="0"/>
          </a:p>
        </p:txBody>
      </p:sp>
      <p:sp>
        <p:nvSpPr>
          <p:cNvPr id="3" name="Subtitle 2"/>
          <p:cNvSpPr>
            <a:spLocks noGrp="1"/>
          </p:cNvSpPr>
          <p:nvPr>
            <p:ph type="subTitle" idx="1"/>
          </p:nvPr>
        </p:nvSpPr>
        <p:spPr>
          <a:xfrm>
            <a:off x="1524000" y="2130346"/>
            <a:ext cx="9144000" cy="795734"/>
          </a:xfrm>
        </p:spPr>
        <p:txBody>
          <a:bodyPr/>
          <a:lstStyle/>
          <a:p>
            <a:r>
              <a:rPr lang="sv-SE" dirty="0" smtClean="0"/>
              <a:t>En introduktion i förandet av skeppsdagboken</a:t>
            </a:r>
            <a:endParaRPr lang="sv-SE" dirty="0"/>
          </a:p>
        </p:txBody>
      </p:sp>
      <p:pic>
        <p:nvPicPr>
          <p:cNvPr id="4" name="Picture 3"/>
          <p:cNvPicPr>
            <a:picLocks noChangeAspect="1"/>
          </p:cNvPicPr>
          <p:nvPr/>
        </p:nvPicPr>
        <p:blipFill>
          <a:blip r:embed="rId2"/>
          <a:stretch>
            <a:fillRect/>
          </a:stretch>
        </p:blipFill>
        <p:spPr>
          <a:xfrm>
            <a:off x="3241964" y="2610196"/>
            <a:ext cx="5469774" cy="3697703"/>
          </a:xfrm>
          <a:prstGeom prst="rect">
            <a:avLst/>
          </a:prstGeom>
        </p:spPr>
      </p:pic>
    </p:spTree>
    <p:extLst>
      <p:ext uri="{BB962C8B-B14F-4D97-AF65-F5344CB8AC3E}">
        <p14:creationId xmlns:p14="http://schemas.microsoft.com/office/powerpoint/2010/main" val="873095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19338"/>
          </a:xfrm>
        </p:spPr>
        <p:txBody>
          <a:bodyPr/>
          <a:lstStyle/>
          <a:p>
            <a:r>
              <a:rPr lang="sv-SE" b="1" dirty="0"/>
              <a:t>Skeppsdagboken</a:t>
            </a:r>
            <a:endParaRPr lang="sv-SE" dirty="0"/>
          </a:p>
        </p:txBody>
      </p:sp>
      <p:sp>
        <p:nvSpPr>
          <p:cNvPr id="3" name="Content Placeholder 2"/>
          <p:cNvSpPr>
            <a:spLocks noGrp="1"/>
          </p:cNvSpPr>
          <p:nvPr>
            <p:ph sz="quarter" idx="13"/>
          </p:nvPr>
        </p:nvSpPr>
        <p:spPr>
          <a:xfrm>
            <a:off x="913775" y="1718699"/>
            <a:ext cx="10363826" cy="4607285"/>
          </a:xfrm>
        </p:spPr>
        <p:txBody>
          <a:bodyPr>
            <a:normAutofit fontScale="92500" lnSpcReduction="10000"/>
          </a:bodyPr>
          <a:lstStyle/>
          <a:p>
            <a:pPr marL="0" indent="0">
              <a:buNone/>
            </a:pPr>
            <a:r>
              <a:rPr lang="sv-SE" b="1" dirty="0" smtClean="0"/>
              <a:t>Inledning</a:t>
            </a:r>
          </a:p>
          <a:p>
            <a:pPr marL="0" indent="0">
              <a:buNone/>
            </a:pPr>
            <a:r>
              <a:rPr lang="sv-SE" dirty="0" smtClean="0"/>
              <a:t>Skeppsdagbokens utseende och innehåll regleras av </a:t>
            </a:r>
            <a:r>
              <a:rPr lang="sv-SE" dirty="0" err="1" smtClean="0"/>
              <a:t>tsfs</a:t>
            </a:r>
            <a:r>
              <a:rPr lang="sv-SE" dirty="0" smtClean="0"/>
              <a:t> </a:t>
            </a:r>
            <a:r>
              <a:rPr lang="sv-SE" dirty="0" smtClean="0"/>
              <a:t>2010:18.</a:t>
            </a:r>
            <a:endParaRPr lang="sv-SE" dirty="0" smtClean="0"/>
          </a:p>
          <a:p>
            <a:pPr marL="0" indent="0">
              <a:buNone/>
            </a:pPr>
            <a:r>
              <a:rPr lang="sv-SE" dirty="0" smtClean="0"/>
              <a:t>Man kanske kan tycka att det år 2019 skulle finnas ett bättre sätt att dokumentera vad som händer ombord på ett fartyg. Det finns det också i form av olika loggande funktioner i olika instrument och också i form av VDR, </a:t>
            </a:r>
            <a:r>
              <a:rPr lang="sv-SE" dirty="0" err="1" smtClean="0"/>
              <a:t>voyage</a:t>
            </a:r>
            <a:r>
              <a:rPr lang="sv-SE" dirty="0" smtClean="0"/>
              <a:t> data </a:t>
            </a:r>
            <a:r>
              <a:rPr lang="sv-SE" dirty="0" err="1" smtClean="0"/>
              <a:t>recorder</a:t>
            </a:r>
            <a:r>
              <a:rPr lang="sv-SE" dirty="0" smtClean="0"/>
              <a:t>. Men man kan inte komma ifrån att det är skeppsdagboken som är det juridiska dokumentet. </a:t>
            </a:r>
          </a:p>
          <a:p>
            <a:pPr marL="0" indent="0">
              <a:buNone/>
            </a:pPr>
            <a:r>
              <a:rPr lang="sv-SE" dirty="0" smtClean="0"/>
              <a:t>Det är säkert en tidfråga innan den helt ersätts av någon form av elektronisk logg som är kopplad till all nödvändig navigationsutrustning, men det Har man ju sagt i decennier nu, så vem vet…</a:t>
            </a:r>
          </a:p>
          <a:p>
            <a:pPr marL="0" indent="0">
              <a:buNone/>
            </a:pPr>
            <a:r>
              <a:rPr lang="sv-SE" dirty="0" smtClean="0"/>
              <a:t>Det är mycket viktigt att dagboken förs på ett korrekt och tydligt sätt så att man i efterhand kan gå tillbaka och förstå vad som är skrivet där, exempelvis i händelse av en sjöförklaring.    </a:t>
            </a:r>
            <a:endParaRPr lang="sv-SE" dirty="0"/>
          </a:p>
        </p:txBody>
      </p:sp>
    </p:spTree>
    <p:extLst>
      <p:ext uri="{BB962C8B-B14F-4D97-AF65-F5344CB8AC3E}">
        <p14:creationId xmlns:p14="http://schemas.microsoft.com/office/powerpoint/2010/main" val="1859707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19338"/>
          </a:xfrm>
        </p:spPr>
        <p:txBody>
          <a:bodyPr/>
          <a:lstStyle/>
          <a:p>
            <a:r>
              <a:rPr lang="sv-SE" b="1" dirty="0"/>
              <a:t>Skeppsdagboken</a:t>
            </a:r>
            <a:endParaRPr lang="sv-SE" dirty="0"/>
          </a:p>
        </p:txBody>
      </p:sp>
      <p:sp>
        <p:nvSpPr>
          <p:cNvPr id="3" name="Content Placeholder 2"/>
          <p:cNvSpPr>
            <a:spLocks noGrp="1"/>
          </p:cNvSpPr>
          <p:nvPr>
            <p:ph sz="quarter" idx="13"/>
          </p:nvPr>
        </p:nvSpPr>
        <p:spPr>
          <a:xfrm>
            <a:off x="913775" y="1702074"/>
            <a:ext cx="10363826" cy="4133461"/>
          </a:xfrm>
        </p:spPr>
        <p:txBody>
          <a:bodyPr/>
          <a:lstStyle/>
          <a:p>
            <a:pPr marL="0" indent="0">
              <a:buNone/>
            </a:pPr>
            <a:r>
              <a:rPr lang="sv-SE" dirty="0" smtClean="0"/>
              <a:t>Generellt uttryckt kan man säga att skeppsdagboken hela tiden ska beskriva vad som </a:t>
            </a:r>
            <a:r>
              <a:rPr lang="sv-SE" b="1" dirty="0" smtClean="0"/>
              <a:t>har</a:t>
            </a:r>
            <a:r>
              <a:rPr lang="sv-SE" dirty="0" smtClean="0"/>
              <a:t> hänt, inte så mycket vad som händer nu och absolut inte vad som ska hända…</a:t>
            </a:r>
          </a:p>
          <a:p>
            <a:pPr marL="0" indent="0">
              <a:buNone/>
            </a:pPr>
            <a:r>
              <a:rPr lang="sv-SE" dirty="0" smtClean="0"/>
              <a:t>När man exempelvis för in en ny positionsangivelse ska de gyro- och magnetkurser man då skriver vara de man har hållit fram till aktuell position. Alltså </a:t>
            </a:r>
            <a:r>
              <a:rPr lang="sv-SE" b="1" dirty="0" smtClean="0"/>
              <a:t>inte</a:t>
            </a:r>
            <a:r>
              <a:rPr lang="sv-SE" dirty="0" smtClean="0"/>
              <a:t> den kurs man girar till! Det här känns mera logiskt när man kommer till skriva in loggad distans. Den för man ju inte in i ”förväg” så att säga, utan det handlar om den distans man tillryggalagt fram till aktuell position.</a:t>
            </a:r>
            <a:endParaRPr lang="sv-SE" dirty="0"/>
          </a:p>
        </p:txBody>
      </p:sp>
    </p:spTree>
    <p:extLst>
      <p:ext uri="{BB962C8B-B14F-4D97-AF65-F5344CB8AC3E}">
        <p14:creationId xmlns:p14="http://schemas.microsoft.com/office/powerpoint/2010/main" val="1585237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69214"/>
          </a:xfrm>
        </p:spPr>
        <p:txBody>
          <a:bodyPr>
            <a:normAutofit/>
          </a:bodyPr>
          <a:lstStyle/>
          <a:p>
            <a:r>
              <a:rPr lang="sv-SE" b="1" dirty="0" smtClean="0"/>
              <a:t>Skeppsdagboken</a:t>
            </a:r>
            <a:br>
              <a:rPr lang="sv-SE" b="1" dirty="0" smtClean="0"/>
            </a:br>
            <a:r>
              <a:rPr lang="sv-SE" sz="2200" b="1" dirty="0" smtClean="0"/>
              <a:t>Innehåll</a:t>
            </a:r>
            <a:endParaRPr lang="sv-SE" sz="2200" dirty="0"/>
          </a:p>
        </p:txBody>
      </p:sp>
      <p:pic>
        <p:nvPicPr>
          <p:cNvPr id="4" name="Content Placeholder 3"/>
          <p:cNvPicPr>
            <a:picLocks noGrp="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3541221" y="1803863"/>
            <a:ext cx="4031673" cy="4771504"/>
          </a:xfrm>
          <a:prstGeom prst="rect">
            <a:avLst/>
          </a:prstGeom>
          <a:noFill/>
          <a:ln>
            <a:noFill/>
          </a:ln>
        </p:spPr>
      </p:pic>
      <p:sp>
        <p:nvSpPr>
          <p:cNvPr id="7" name="TextBox 6"/>
          <p:cNvSpPr txBox="1"/>
          <p:nvPr/>
        </p:nvSpPr>
        <p:spPr>
          <a:xfrm>
            <a:off x="1055716" y="2435629"/>
            <a:ext cx="2485505" cy="3416320"/>
          </a:xfrm>
          <a:prstGeom prst="rect">
            <a:avLst/>
          </a:prstGeom>
          <a:noFill/>
        </p:spPr>
        <p:txBody>
          <a:bodyPr wrap="square" rtlCol="0">
            <a:spAutoFit/>
          </a:bodyPr>
          <a:lstStyle/>
          <a:p>
            <a:r>
              <a:rPr lang="sv-SE" sz="2400" dirty="0" smtClean="0"/>
              <a:t>Varje uppslag är en ny dag. Den vänstra sidan är främst till för </a:t>
            </a:r>
            <a:r>
              <a:rPr lang="sv-SE" sz="2400" dirty="0" err="1" smtClean="0"/>
              <a:t>navigatoriska</a:t>
            </a:r>
            <a:r>
              <a:rPr lang="sv-SE" sz="2400" dirty="0" smtClean="0"/>
              <a:t> uppgifter och den högra för information av mer allmän karaktär. </a:t>
            </a:r>
            <a:endParaRPr lang="sv-SE" sz="2400" dirty="0"/>
          </a:p>
        </p:txBody>
      </p:sp>
      <p:pic>
        <p:nvPicPr>
          <p:cNvPr id="8" name="Picture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2894" y="1878676"/>
            <a:ext cx="3848991" cy="4696691"/>
          </a:xfrm>
          <a:prstGeom prst="rect">
            <a:avLst/>
          </a:prstGeom>
          <a:noFill/>
          <a:ln>
            <a:noFill/>
          </a:ln>
        </p:spPr>
      </p:pic>
    </p:spTree>
    <p:extLst>
      <p:ext uri="{BB962C8B-B14F-4D97-AF65-F5344CB8AC3E}">
        <p14:creationId xmlns:p14="http://schemas.microsoft.com/office/powerpoint/2010/main" val="319230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smtClean="0"/>
              <a:t>Skeppsdagboken</a:t>
            </a:r>
            <a:br>
              <a:rPr lang="sv-SE" b="1" dirty="0" smtClean="0"/>
            </a:br>
            <a:r>
              <a:rPr lang="sv-SE" sz="2400" b="1" dirty="0" smtClean="0"/>
              <a:t>Vänstra sidan; tid</a:t>
            </a:r>
            <a:endParaRPr lang="sv-SE" sz="2400" dirty="0"/>
          </a:p>
        </p:txBody>
      </p:sp>
      <p:sp>
        <p:nvSpPr>
          <p:cNvPr id="5" name="TextBox 4"/>
          <p:cNvSpPr txBox="1"/>
          <p:nvPr/>
        </p:nvSpPr>
        <p:spPr>
          <a:xfrm>
            <a:off x="1059549" y="1870137"/>
            <a:ext cx="5579790" cy="4524315"/>
          </a:xfrm>
          <a:prstGeom prst="rect">
            <a:avLst/>
          </a:prstGeom>
          <a:noFill/>
        </p:spPr>
        <p:txBody>
          <a:bodyPr wrap="square" rtlCol="0">
            <a:spAutoFit/>
          </a:bodyPr>
          <a:lstStyle/>
          <a:p>
            <a:r>
              <a:rPr lang="sv-SE" sz="2400" dirty="0" smtClean="0"/>
              <a:t>I Kolumnen längst till vänster fyller man i tiden för en aktuell positionsangivelse. Tiden är lokal tid.</a:t>
            </a:r>
          </a:p>
          <a:p>
            <a:r>
              <a:rPr lang="sv-SE" sz="2400" dirty="0" smtClean="0"/>
              <a:t>Det finns 24 rader i kolumnen. Eftersom det ju går 24 timmar på ett dygn är det lätt att tro att man måste sätta av en position en gång i timmen. Så är </a:t>
            </a:r>
            <a:r>
              <a:rPr lang="sv-SE" sz="2400" b="1" dirty="0" smtClean="0"/>
              <a:t>inte</a:t>
            </a:r>
            <a:r>
              <a:rPr lang="sv-SE" sz="2400" dirty="0" smtClean="0"/>
              <a:t> fallet.</a:t>
            </a:r>
          </a:p>
          <a:p>
            <a:r>
              <a:rPr lang="sv-SE" sz="2400" dirty="0" smtClean="0"/>
              <a:t>Ibland behöver man göra det oftare och ibland mer sällan. Till havs kan det räcka med en gång per vakt (var fjärde timma) men är man i skärgårdsmiljö kan det behövas betydligt oftare. </a:t>
            </a:r>
            <a:endParaRPr lang="sv-SE" sz="2400" dirty="0"/>
          </a:p>
        </p:txBody>
      </p:sp>
      <p:pic>
        <p:nvPicPr>
          <p:cNvPr id="7" name="Content Placeholder 6"/>
          <p:cNvPicPr>
            <a:picLocks noGrp="1" noChangeAspect="1"/>
          </p:cNvPicPr>
          <p:nvPr>
            <p:ph sz="quarter" idx="13"/>
          </p:nvPr>
        </p:nvPicPr>
        <p:blipFill>
          <a:blip r:embed="rId2"/>
          <a:stretch>
            <a:fillRect/>
          </a:stretch>
        </p:blipFill>
        <p:spPr>
          <a:xfrm>
            <a:off x="7813203" y="1463046"/>
            <a:ext cx="2291158" cy="5338496"/>
          </a:xfrm>
          <a:prstGeom prst="rect">
            <a:avLst/>
          </a:prstGeom>
        </p:spPr>
      </p:pic>
    </p:spTree>
    <p:extLst>
      <p:ext uri="{BB962C8B-B14F-4D97-AF65-F5344CB8AC3E}">
        <p14:creationId xmlns:p14="http://schemas.microsoft.com/office/powerpoint/2010/main" val="2291708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522" y="326969"/>
            <a:ext cx="10364451" cy="1596177"/>
          </a:xfrm>
        </p:spPr>
        <p:txBody>
          <a:bodyPr/>
          <a:lstStyle/>
          <a:p>
            <a:r>
              <a:rPr lang="sv-SE" b="1" dirty="0"/>
              <a:t>Skeppsdagboken</a:t>
            </a:r>
            <a:br>
              <a:rPr lang="sv-SE" b="1" dirty="0"/>
            </a:br>
            <a:r>
              <a:rPr lang="sv-SE" sz="2400" b="1" dirty="0" smtClean="0"/>
              <a:t>Vänstra sidan; kurser</a:t>
            </a:r>
            <a:endParaRPr lang="sv-SE" sz="2400" dirty="0"/>
          </a:p>
        </p:txBody>
      </p:sp>
      <p:pic>
        <p:nvPicPr>
          <p:cNvPr id="6" name="Content Placeholder 5"/>
          <p:cNvPicPr>
            <a:picLocks noGrp="1" noChangeAspect="1"/>
          </p:cNvPicPr>
          <p:nvPr>
            <p:ph sz="quarter" idx="13"/>
          </p:nvPr>
        </p:nvPicPr>
        <p:blipFill>
          <a:blip r:embed="rId2"/>
          <a:stretch>
            <a:fillRect/>
          </a:stretch>
        </p:blipFill>
        <p:spPr>
          <a:xfrm>
            <a:off x="6296082" y="2929264"/>
            <a:ext cx="5352186" cy="2225832"/>
          </a:xfrm>
          <a:prstGeom prst="rect">
            <a:avLst/>
          </a:prstGeom>
        </p:spPr>
      </p:pic>
      <p:sp>
        <p:nvSpPr>
          <p:cNvPr id="7" name="TextBox 6"/>
          <p:cNvSpPr txBox="1"/>
          <p:nvPr/>
        </p:nvSpPr>
        <p:spPr>
          <a:xfrm>
            <a:off x="450574" y="1780022"/>
            <a:ext cx="5738191" cy="5539978"/>
          </a:xfrm>
          <a:prstGeom prst="rect">
            <a:avLst/>
          </a:prstGeom>
          <a:noFill/>
        </p:spPr>
        <p:txBody>
          <a:bodyPr wrap="square" rtlCol="0">
            <a:spAutoFit/>
          </a:bodyPr>
          <a:lstStyle/>
          <a:p>
            <a:r>
              <a:rPr lang="sv-SE" sz="2400" dirty="0" smtClean="0"/>
              <a:t>Den kurs som man fyller i är alltså den man </a:t>
            </a:r>
            <a:r>
              <a:rPr lang="sv-SE" sz="2400" b="1" dirty="0" smtClean="0"/>
              <a:t>har hållit </a:t>
            </a:r>
            <a:r>
              <a:rPr lang="sv-SE" sz="2400" dirty="0" smtClean="0"/>
              <a:t>fram till den tid och position som man nu är på. Man måste alltså börja fylla i lite i förväg, innan man exempelvis gör en gir.</a:t>
            </a:r>
          </a:p>
          <a:p>
            <a:endParaRPr lang="sv-SE" sz="2400" dirty="0"/>
          </a:p>
          <a:p>
            <a:r>
              <a:rPr lang="sv-SE" sz="2400" dirty="0" smtClean="0"/>
              <a:t>Korr för gyrokompassen är latitud- och fartfelet. De flesta gyrokompasser har idag en automatisk korrektion för det här felet vilket gör att man vanligtvis inte fyller i rutan eller bara sätter ett sträck.</a:t>
            </a:r>
          </a:p>
          <a:p>
            <a:endParaRPr lang="sv-SE" sz="2400" dirty="0"/>
          </a:p>
          <a:p>
            <a:r>
              <a:rPr lang="sv-SE" sz="2400" dirty="0" smtClean="0"/>
              <a:t>Vad deviation och missvisning är vet ni redan.</a:t>
            </a:r>
          </a:p>
          <a:p>
            <a:endParaRPr lang="sv-SE" sz="2400" dirty="0"/>
          </a:p>
          <a:p>
            <a:endParaRPr lang="sv-SE" dirty="0"/>
          </a:p>
        </p:txBody>
      </p:sp>
    </p:spTree>
    <p:extLst>
      <p:ext uri="{BB962C8B-B14F-4D97-AF65-F5344CB8AC3E}">
        <p14:creationId xmlns:p14="http://schemas.microsoft.com/office/powerpoint/2010/main" val="104421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257910"/>
            <a:ext cx="10364451" cy="1107252"/>
          </a:xfrm>
        </p:spPr>
        <p:txBody>
          <a:bodyPr/>
          <a:lstStyle/>
          <a:p>
            <a:r>
              <a:rPr lang="sv-SE" b="1" dirty="0" smtClean="0"/>
              <a:t>Skeppsdagboken</a:t>
            </a:r>
            <a:br>
              <a:rPr lang="sv-SE" b="1" dirty="0" smtClean="0"/>
            </a:br>
            <a:r>
              <a:rPr lang="sv-SE" sz="2400" b="1" dirty="0" smtClean="0"/>
              <a:t>Vänstra sidan; avdrift, rättvisande kurs</a:t>
            </a:r>
            <a:endParaRPr lang="sv-SE" dirty="0"/>
          </a:p>
        </p:txBody>
      </p:sp>
      <p:sp>
        <p:nvSpPr>
          <p:cNvPr id="3" name="Content Placeholder 2"/>
          <p:cNvSpPr>
            <a:spLocks noGrp="1"/>
          </p:cNvSpPr>
          <p:nvPr>
            <p:ph sz="quarter" idx="13"/>
          </p:nvPr>
        </p:nvSpPr>
        <p:spPr>
          <a:xfrm>
            <a:off x="7892557" y="1732052"/>
            <a:ext cx="3890046" cy="3424107"/>
          </a:xfrm>
        </p:spPr>
        <p:txBody>
          <a:bodyPr/>
          <a:lstStyle/>
          <a:p>
            <a:pPr marL="0" indent="0">
              <a:buNone/>
            </a:pPr>
            <a:endParaRPr lang="sv-SE" dirty="0"/>
          </a:p>
        </p:txBody>
      </p:sp>
      <p:pic>
        <p:nvPicPr>
          <p:cNvPr id="4" name="Picture 3"/>
          <p:cNvPicPr>
            <a:picLocks noChangeAspect="1"/>
          </p:cNvPicPr>
          <p:nvPr/>
        </p:nvPicPr>
        <p:blipFill>
          <a:blip r:embed="rId2"/>
          <a:stretch>
            <a:fillRect/>
          </a:stretch>
        </p:blipFill>
        <p:spPr>
          <a:xfrm>
            <a:off x="7018986" y="1877695"/>
            <a:ext cx="4763617" cy="3132822"/>
          </a:xfrm>
          <a:prstGeom prst="rect">
            <a:avLst/>
          </a:prstGeom>
        </p:spPr>
      </p:pic>
      <p:sp>
        <p:nvSpPr>
          <p:cNvPr id="5" name="TextBox 4"/>
          <p:cNvSpPr txBox="1"/>
          <p:nvPr/>
        </p:nvSpPr>
        <p:spPr>
          <a:xfrm>
            <a:off x="1146219" y="1732052"/>
            <a:ext cx="5203065" cy="4154984"/>
          </a:xfrm>
          <a:prstGeom prst="rect">
            <a:avLst/>
          </a:prstGeom>
          <a:noFill/>
        </p:spPr>
        <p:txBody>
          <a:bodyPr wrap="square" rtlCol="0">
            <a:spAutoFit/>
          </a:bodyPr>
          <a:lstStyle/>
          <a:p>
            <a:r>
              <a:rPr lang="sv-SE" sz="2400" b="1" dirty="0" smtClean="0"/>
              <a:t>Avdrift</a:t>
            </a:r>
            <a:r>
              <a:rPr lang="sv-SE" sz="2400" dirty="0" smtClean="0"/>
              <a:t> är skillnaden mellan styrd kurs och hur vi har färdats över grund.</a:t>
            </a:r>
          </a:p>
          <a:p>
            <a:endParaRPr lang="sv-SE" sz="2400" dirty="0" smtClean="0"/>
          </a:p>
          <a:p>
            <a:r>
              <a:rPr lang="sv-SE" sz="2400" b="1" dirty="0" smtClean="0"/>
              <a:t>Rättvisande kurs </a:t>
            </a:r>
            <a:r>
              <a:rPr lang="sv-SE" sz="2400" dirty="0" smtClean="0"/>
              <a:t>är den korrigerade gyrokompasskursen, dvs den verkliga stävriktningen. Eftersom gyrot vanligtvis korrigerar sig själv blir den detsamma som gyrokursen. Vanlig praxis är att man styrker över ”rättvisande kurs” och skriver COG eller GPS-kurs då man har mer nytta av den informationen.</a:t>
            </a:r>
            <a:endParaRPr lang="sv-SE" sz="2400" dirty="0"/>
          </a:p>
        </p:txBody>
      </p:sp>
    </p:spTree>
    <p:extLst>
      <p:ext uri="{BB962C8B-B14F-4D97-AF65-F5344CB8AC3E}">
        <p14:creationId xmlns:p14="http://schemas.microsoft.com/office/powerpoint/2010/main" val="308074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63971"/>
            <a:ext cx="10364451" cy="1107252"/>
          </a:xfrm>
        </p:spPr>
        <p:txBody>
          <a:bodyPr/>
          <a:lstStyle/>
          <a:p>
            <a:r>
              <a:rPr lang="sv-SE" b="1" dirty="0"/>
              <a:t>Skeppsdagboken</a:t>
            </a:r>
            <a:br>
              <a:rPr lang="sv-SE" b="1" dirty="0"/>
            </a:br>
            <a:r>
              <a:rPr lang="sv-SE" sz="2400" b="1" dirty="0" smtClean="0"/>
              <a:t>Vänstra sidan; distanser</a:t>
            </a:r>
            <a:endParaRPr lang="sv-SE" dirty="0"/>
          </a:p>
        </p:txBody>
      </p:sp>
      <p:pic>
        <p:nvPicPr>
          <p:cNvPr id="4" name="Content Placeholder 3"/>
          <p:cNvPicPr>
            <a:picLocks noGrp="1" noChangeAspect="1"/>
          </p:cNvPicPr>
          <p:nvPr>
            <p:ph sz="quarter" idx="13"/>
          </p:nvPr>
        </p:nvPicPr>
        <p:blipFill>
          <a:blip r:embed="rId2"/>
          <a:stretch>
            <a:fillRect/>
          </a:stretch>
        </p:blipFill>
        <p:spPr>
          <a:xfrm>
            <a:off x="7184638" y="2678806"/>
            <a:ext cx="4582419" cy="3013656"/>
          </a:xfrm>
          <a:prstGeom prst="rect">
            <a:avLst/>
          </a:prstGeom>
        </p:spPr>
      </p:pic>
      <p:sp>
        <p:nvSpPr>
          <p:cNvPr id="5" name="TextBox 4"/>
          <p:cNvSpPr txBox="1"/>
          <p:nvPr/>
        </p:nvSpPr>
        <p:spPr>
          <a:xfrm>
            <a:off x="1189149" y="1738810"/>
            <a:ext cx="4906851" cy="4893647"/>
          </a:xfrm>
          <a:prstGeom prst="rect">
            <a:avLst/>
          </a:prstGeom>
          <a:noFill/>
        </p:spPr>
        <p:txBody>
          <a:bodyPr wrap="square" rtlCol="0">
            <a:spAutoFit/>
          </a:bodyPr>
          <a:lstStyle/>
          <a:p>
            <a:r>
              <a:rPr lang="sv-SE" sz="2400" dirty="0" smtClean="0"/>
              <a:t>Med </a:t>
            </a:r>
            <a:r>
              <a:rPr lang="sv-SE" sz="2400" b="1" dirty="0" smtClean="0"/>
              <a:t>Distans </a:t>
            </a:r>
            <a:r>
              <a:rPr lang="sv-SE" sz="2400" b="1" dirty="0" err="1" smtClean="0"/>
              <a:t>enl</a:t>
            </a:r>
            <a:r>
              <a:rPr lang="sv-SE" sz="2400" b="1" dirty="0" smtClean="0"/>
              <a:t> logg </a:t>
            </a:r>
            <a:r>
              <a:rPr lang="sv-SE" sz="2400" dirty="0" smtClean="0"/>
              <a:t>menas den sträcka man har färdats genom vattnet. Man måste alltså läsa av rätt om man har en logg som både visar fart (distans) över grund och fart (distans) genom vattnet.</a:t>
            </a:r>
          </a:p>
          <a:p>
            <a:endParaRPr lang="sv-SE" sz="2400" dirty="0"/>
          </a:p>
          <a:p>
            <a:r>
              <a:rPr lang="sv-SE" sz="2400" b="1" dirty="0" smtClean="0"/>
              <a:t>Distans enligt observation </a:t>
            </a:r>
            <a:r>
              <a:rPr lang="sv-SE" sz="2400" dirty="0" smtClean="0"/>
              <a:t>är avståndet mellan förra positionen och den vi nu är på.</a:t>
            </a:r>
          </a:p>
          <a:p>
            <a:endParaRPr lang="sv-SE" sz="2400" dirty="0"/>
          </a:p>
          <a:p>
            <a:r>
              <a:rPr lang="sv-SE" sz="2400" dirty="0" smtClean="0"/>
              <a:t>Om vi färdas i strömt vatten kan alltså dessa värden skilja sig åt.</a:t>
            </a:r>
            <a:endParaRPr lang="sv-SE" sz="2400" dirty="0"/>
          </a:p>
        </p:txBody>
      </p:sp>
    </p:spTree>
    <p:extLst>
      <p:ext uri="{BB962C8B-B14F-4D97-AF65-F5344CB8AC3E}">
        <p14:creationId xmlns:p14="http://schemas.microsoft.com/office/powerpoint/2010/main" val="180252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068615"/>
          </a:xfrm>
        </p:spPr>
        <p:txBody>
          <a:bodyPr/>
          <a:lstStyle/>
          <a:p>
            <a:r>
              <a:rPr lang="sv-SE" b="1" dirty="0"/>
              <a:t>Skeppsdagboken</a:t>
            </a:r>
            <a:br>
              <a:rPr lang="sv-SE" b="1" dirty="0"/>
            </a:br>
            <a:r>
              <a:rPr lang="sv-SE" sz="2400" b="1" dirty="0" smtClean="0"/>
              <a:t>vänstra sidan; middagsräkning</a:t>
            </a:r>
            <a:endParaRPr lang="sv-SE" dirty="0"/>
          </a:p>
        </p:txBody>
      </p:sp>
      <p:pic>
        <p:nvPicPr>
          <p:cNvPr id="4" name="Content Placeholder 3"/>
          <p:cNvPicPr>
            <a:picLocks noGrp="1" noChangeAspect="1"/>
          </p:cNvPicPr>
          <p:nvPr>
            <p:ph sz="quarter" idx="13"/>
          </p:nvPr>
        </p:nvPicPr>
        <p:blipFill>
          <a:blip r:embed="rId2"/>
          <a:stretch>
            <a:fillRect/>
          </a:stretch>
        </p:blipFill>
        <p:spPr>
          <a:xfrm>
            <a:off x="7188777" y="3041627"/>
            <a:ext cx="3976436" cy="1935391"/>
          </a:xfrm>
          <a:prstGeom prst="rect">
            <a:avLst/>
          </a:prstGeom>
        </p:spPr>
      </p:pic>
      <p:sp>
        <p:nvSpPr>
          <p:cNvPr id="5" name="TextBox 4"/>
          <p:cNvSpPr txBox="1"/>
          <p:nvPr/>
        </p:nvSpPr>
        <p:spPr>
          <a:xfrm>
            <a:off x="913775" y="1931831"/>
            <a:ext cx="5499279" cy="4154984"/>
          </a:xfrm>
          <a:prstGeom prst="rect">
            <a:avLst/>
          </a:prstGeom>
          <a:noFill/>
        </p:spPr>
        <p:txBody>
          <a:bodyPr wrap="square" rtlCol="0">
            <a:spAutoFit/>
          </a:bodyPr>
          <a:lstStyle/>
          <a:p>
            <a:r>
              <a:rPr lang="sv-SE" sz="2400" dirty="0" smtClean="0"/>
              <a:t>Nere till vänster hittar vi ”middagsräkning”. Detta används mest under längre resor och är ett arv från tiden då man enbart navigerade enligt död räkning och sextant.</a:t>
            </a:r>
          </a:p>
          <a:p>
            <a:r>
              <a:rPr lang="sv-SE" sz="2400" dirty="0" smtClean="0"/>
              <a:t>Själva grundtanken är att man en gång om dygnet ska kontrollera sin position med två skilda metoder. Idag kan man på så sätt exempelvis bedöma rimligheten i en </a:t>
            </a:r>
            <a:r>
              <a:rPr lang="sv-SE" sz="2400" dirty="0" err="1" smtClean="0"/>
              <a:t>gps-position</a:t>
            </a:r>
            <a:r>
              <a:rPr lang="sv-SE" sz="2400" dirty="0" smtClean="0"/>
              <a:t> med hjälp av sextant eller genom bäring/avstånd till ett fast föremål som en fyr.</a:t>
            </a:r>
            <a:endParaRPr lang="sv-SE" sz="2400" dirty="0"/>
          </a:p>
        </p:txBody>
      </p:sp>
    </p:spTree>
    <p:extLst>
      <p:ext uri="{BB962C8B-B14F-4D97-AF65-F5344CB8AC3E}">
        <p14:creationId xmlns:p14="http://schemas.microsoft.com/office/powerpoint/2010/main" val="333467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47798"/>
          </a:xfrm>
        </p:spPr>
        <p:txBody>
          <a:bodyPr/>
          <a:lstStyle/>
          <a:p>
            <a:r>
              <a:rPr lang="sv-SE" b="1" dirty="0"/>
              <a:t>Skeppsdagboken</a:t>
            </a:r>
            <a:br>
              <a:rPr lang="sv-SE" b="1" dirty="0"/>
            </a:br>
            <a:r>
              <a:rPr lang="sv-SE" sz="2400" b="1" dirty="0" smtClean="0"/>
              <a:t>vänstra sidan; pejlingar</a:t>
            </a:r>
            <a:endParaRPr lang="sv-SE" dirty="0"/>
          </a:p>
        </p:txBody>
      </p:sp>
      <p:pic>
        <p:nvPicPr>
          <p:cNvPr id="4" name="Content Placeholder 3"/>
          <p:cNvPicPr>
            <a:picLocks noGrp="1" noChangeAspect="1"/>
          </p:cNvPicPr>
          <p:nvPr>
            <p:ph sz="quarter" idx="13"/>
          </p:nvPr>
        </p:nvPicPr>
        <p:blipFill>
          <a:blip r:embed="rId2"/>
          <a:stretch>
            <a:fillRect/>
          </a:stretch>
        </p:blipFill>
        <p:spPr>
          <a:xfrm>
            <a:off x="5263641" y="2827279"/>
            <a:ext cx="6765228" cy="2110462"/>
          </a:xfrm>
          <a:prstGeom prst="rect">
            <a:avLst/>
          </a:prstGeom>
        </p:spPr>
      </p:pic>
      <p:sp>
        <p:nvSpPr>
          <p:cNvPr id="5" name="TextBox 4"/>
          <p:cNvSpPr txBox="1"/>
          <p:nvPr/>
        </p:nvSpPr>
        <p:spPr>
          <a:xfrm>
            <a:off x="353657" y="1566315"/>
            <a:ext cx="4172755" cy="4893647"/>
          </a:xfrm>
          <a:prstGeom prst="rect">
            <a:avLst/>
          </a:prstGeom>
          <a:noFill/>
        </p:spPr>
        <p:txBody>
          <a:bodyPr wrap="square" rtlCol="0">
            <a:spAutoFit/>
          </a:bodyPr>
          <a:lstStyle/>
          <a:p>
            <a:r>
              <a:rPr lang="sv-SE" sz="2400" dirty="0" smtClean="0"/>
              <a:t>Här antecknas nivåer i lastrum och tankar som har betydelse för fartygets stabilitet och fribord. Idag registreras mycket av detta i datoriserade last- och stabilitetssystem som man kan hänvisa till i skeppsdagboken om dessa är godkända av myndighet. Vad gäller ballast så har man numera även en ”ballast </a:t>
            </a:r>
            <a:r>
              <a:rPr lang="sv-SE" sz="2400" dirty="0" err="1" smtClean="0"/>
              <a:t>water</a:t>
            </a:r>
            <a:r>
              <a:rPr lang="sv-SE" sz="2400" dirty="0" smtClean="0"/>
              <a:t> handling log” i enlighet med ballastvattenkonventionen. </a:t>
            </a:r>
            <a:endParaRPr lang="sv-SE" sz="2400" dirty="0"/>
          </a:p>
        </p:txBody>
      </p:sp>
    </p:spTree>
    <p:extLst>
      <p:ext uri="{BB962C8B-B14F-4D97-AF65-F5344CB8AC3E}">
        <p14:creationId xmlns:p14="http://schemas.microsoft.com/office/powerpoint/2010/main" val="3406112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52706"/>
          </a:xfrm>
        </p:spPr>
        <p:txBody>
          <a:bodyPr/>
          <a:lstStyle/>
          <a:p>
            <a:r>
              <a:rPr lang="sv-SE" b="1" dirty="0"/>
              <a:t>Skeppsdagboken</a:t>
            </a:r>
            <a:br>
              <a:rPr lang="sv-SE" b="1" dirty="0"/>
            </a:br>
            <a:r>
              <a:rPr lang="sv-SE" sz="2400" b="1" dirty="0" smtClean="0"/>
              <a:t>vänstra sidan; skeppsljus</a:t>
            </a:r>
            <a:endParaRPr lang="sv-SE" dirty="0"/>
          </a:p>
        </p:txBody>
      </p:sp>
      <p:pic>
        <p:nvPicPr>
          <p:cNvPr id="4" name="Content Placeholder 3"/>
          <p:cNvPicPr>
            <a:picLocks noGrp="1" noChangeAspect="1"/>
          </p:cNvPicPr>
          <p:nvPr>
            <p:ph sz="quarter" idx="13"/>
          </p:nvPr>
        </p:nvPicPr>
        <p:blipFill>
          <a:blip r:embed="rId2"/>
          <a:stretch>
            <a:fillRect/>
          </a:stretch>
        </p:blipFill>
        <p:spPr>
          <a:xfrm>
            <a:off x="6877497" y="2294323"/>
            <a:ext cx="3193369" cy="2722958"/>
          </a:xfrm>
          <a:prstGeom prst="rect">
            <a:avLst/>
          </a:prstGeom>
        </p:spPr>
      </p:pic>
      <p:sp>
        <p:nvSpPr>
          <p:cNvPr id="5" name="TextBox 4"/>
          <p:cNvSpPr txBox="1"/>
          <p:nvPr/>
        </p:nvSpPr>
        <p:spPr>
          <a:xfrm>
            <a:off x="1540426" y="2316974"/>
            <a:ext cx="4555574" cy="2677656"/>
          </a:xfrm>
          <a:prstGeom prst="rect">
            <a:avLst/>
          </a:prstGeom>
          <a:noFill/>
        </p:spPr>
        <p:txBody>
          <a:bodyPr wrap="square" rtlCol="0">
            <a:spAutoFit/>
          </a:bodyPr>
          <a:lstStyle/>
          <a:p>
            <a:r>
              <a:rPr lang="sv-SE" sz="2400" dirty="0" smtClean="0"/>
              <a:t>Här antecknas helt enkelt när navigationsljus/signalfigurer använts. Rutinen är vanligtvis att alltid ha ljusen tända när man är på väg vilket gör att anteckningen ”0000-2400” är vanligt förekommande.</a:t>
            </a:r>
            <a:endParaRPr lang="sv-SE" sz="2400" dirty="0"/>
          </a:p>
        </p:txBody>
      </p:sp>
    </p:spTree>
    <p:extLst>
      <p:ext uri="{BB962C8B-B14F-4D97-AF65-F5344CB8AC3E}">
        <p14:creationId xmlns:p14="http://schemas.microsoft.com/office/powerpoint/2010/main" val="2482877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546" y="197604"/>
            <a:ext cx="10364451" cy="949026"/>
          </a:xfrm>
        </p:spPr>
        <p:txBody>
          <a:bodyPr/>
          <a:lstStyle/>
          <a:p>
            <a:r>
              <a:rPr lang="sv-SE" b="1" dirty="0"/>
              <a:t>Skeppsdagboken</a:t>
            </a:r>
            <a:br>
              <a:rPr lang="sv-SE" b="1" dirty="0"/>
            </a:br>
            <a:r>
              <a:rPr lang="sv-SE" sz="2400" b="1" dirty="0" smtClean="0"/>
              <a:t>högra sidan; vind, lufttryck och temperatur</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046288" y="3153690"/>
            <a:ext cx="5253709" cy="1684281"/>
          </a:xfrm>
          <a:prstGeom prst="rect">
            <a:avLst/>
          </a:prstGeom>
        </p:spPr>
      </p:pic>
      <p:sp>
        <p:nvSpPr>
          <p:cNvPr id="5" name="TextBox 4"/>
          <p:cNvSpPr txBox="1"/>
          <p:nvPr/>
        </p:nvSpPr>
        <p:spPr>
          <a:xfrm>
            <a:off x="935546" y="1364342"/>
            <a:ext cx="4775200" cy="5262979"/>
          </a:xfrm>
          <a:prstGeom prst="rect">
            <a:avLst/>
          </a:prstGeom>
          <a:noFill/>
        </p:spPr>
        <p:txBody>
          <a:bodyPr wrap="square" rtlCol="0">
            <a:spAutoFit/>
          </a:bodyPr>
          <a:lstStyle/>
          <a:p>
            <a:r>
              <a:rPr lang="sv-SE" sz="2400" b="1" dirty="0" smtClean="0"/>
              <a:t>Vindriktningen</a:t>
            </a:r>
            <a:r>
              <a:rPr lang="sv-SE" sz="2400" dirty="0" smtClean="0"/>
              <a:t> anger alltid från vilket håll vinden kommer ifrån. Dvs vid nordlig vind kommer den från nord och men rör sig mot söder. </a:t>
            </a:r>
          </a:p>
          <a:p>
            <a:endParaRPr lang="sv-SE" sz="2400" dirty="0" smtClean="0"/>
          </a:p>
          <a:p>
            <a:r>
              <a:rPr lang="sv-SE" sz="2400" dirty="0" smtClean="0"/>
              <a:t>Många vill gärna skriva m/s vad gäller vindstyrka men det är enheten för vind</a:t>
            </a:r>
            <a:r>
              <a:rPr lang="sv-SE" sz="2400" u="sng" dirty="0" smtClean="0"/>
              <a:t>hastighet</a:t>
            </a:r>
            <a:r>
              <a:rPr lang="sv-SE" sz="2400" dirty="0" smtClean="0"/>
              <a:t>. För vindstyrka används enheten Beaufort som är en skala som mer beskriver vilken effekt vinden har på omgivningen. Exempelvis 2 </a:t>
            </a:r>
            <a:r>
              <a:rPr lang="sv-SE" sz="2400" dirty="0"/>
              <a:t>B</a:t>
            </a:r>
            <a:r>
              <a:rPr lang="sv-SE" sz="2400" dirty="0" smtClean="0"/>
              <a:t>eaufort:  </a:t>
            </a:r>
            <a:r>
              <a:rPr lang="sv-SE" sz="2400" i="1" dirty="0"/>
              <a:t>Lyfter vimpel, vindflöjel visar vindriktningen, på sjön korta tydliga </a:t>
            </a:r>
            <a:r>
              <a:rPr lang="sv-SE" sz="2400" i="1" dirty="0" smtClean="0"/>
              <a:t>vågor. </a:t>
            </a:r>
            <a:endParaRPr lang="sv-SE" sz="2400" i="1" dirty="0"/>
          </a:p>
        </p:txBody>
      </p:sp>
    </p:spTree>
    <p:extLst>
      <p:ext uri="{BB962C8B-B14F-4D97-AF65-F5344CB8AC3E}">
        <p14:creationId xmlns:p14="http://schemas.microsoft.com/office/powerpoint/2010/main" val="78102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a:t>Skeppsdagboken</a:t>
            </a:r>
            <a:br>
              <a:rPr lang="sv-SE" b="1" dirty="0"/>
            </a:br>
            <a:r>
              <a:rPr lang="sv-SE" sz="2400" b="1" dirty="0"/>
              <a:t>högra sidan; vind, lufttryck och temperatur</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750964" y="2801258"/>
            <a:ext cx="5072611" cy="1626223"/>
          </a:xfrm>
          <a:prstGeom prst="rect">
            <a:avLst/>
          </a:prstGeom>
        </p:spPr>
      </p:pic>
      <p:sp>
        <p:nvSpPr>
          <p:cNvPr id="5" name="TextBox 4"/>
          <p:cNvSpPr txBox="1"/>
          <p:nvPr/>
        </p:nvSpPr>
        <p:spPr>
          <a:xfrm>
            <a:off x="551542" y="2104571"/>
            <a:ext cx="5544458" cy="4154984"/>
          </a:xfrm>
          <a:prstGeom prst="rect">
            <a:avLst/>
          </a:prstGeom>
          <a:noFill/>
        </p:spPr>
        <p:txBody>
          <a:bodyPr wrap="square" rtlCol="0">
            <a:spAutoFit/>
          </a:bodyPr>
          <a:lstStyle/>
          <a:p>
            <a:r>
              <a:rPr lang="sv-SE" sz="2400" dirty="0" smtClean="0"/>
              <a:t>För </a:t>
            </a:r>
            <a:r>
              <a:rPr lang="sv-SE" sz="2400" b="1" dirty="0" smtClean="0"/>
              <a:t>lufttryck</a:t>
            </a:r>
            <a:r>
              <a:rPr lang="sv-SE" sz="2400" dirty="0" smtClean="0"/>
              <a:t> används vanligen enheterna millibar eller hektopascal. Råder det tveksamhet om vilken enhet som används skrivs det med fördel in antingen i rutan efter värdet eller ovanför ”Barometer”.</a:t>
            </a:r>
          </a:p>
          <a:p>
            <a:endParaRPr lang="sv-SE" sz="2400" dirty="0"/>
          </a:p>
          <a:p>
            <a:r>
              <a:rPr lang="sv-SE" sz="2400" dirty="0" smtClean="0"/>
              <a:t>För </a:t>
            </a:r>
            <a:r>
              <a:rPr lang="sv-SE" sz="2400" b="1" dirty="0" smtClean="0"/>
              <a:t>temperatur</a:t>
            </a:r>
            <a:r>
              <a:rPr lang="sv-SE" sz="2400" dirty="0" smtClean="0"/>
              <a:t> använder vi vanligtvis grader </a:t>
            </a:r>
            <a:r>
              <a:rPr lang="sv-SE" sz="2400" dirty="0" err="1" smtClean="0"/>
              <a:t>Celcius</a:t>
            </a:r>
            <a:r>
              <a:rPr lang="sv-SE" sz="2400" dirty="0" smtClean="0"/>
              <a:t>. Det går att använda Fahrenheit eller Kelvin om så önskas men då behöver man förtydliga detta på motsvarande sätt som för lufttryck.   </a:t>
            </a:r>
            <a:endParaRPr lang="sv-SE" sz="2400" dirty="0"/>
          </a:p>
        </p:txBody>
      </p:sp>
    </p:spTree>
    <p:extLst>
      <p:ext uri="{BB962C8B-B14F-4D97-AF65-F5344CB8AC3E}">
        <p14:creationId xmlns:p14="http://schemas.microsoft.com/office/powerpoint/2010/main" val="2333135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31093"/>
            <a:ext cx="10364451" cy="1181254"/>
          </a:xfrm>
        </p:spPr>
        <p:txBody>
          <a:bodyPr/>
          <a:lstStyle/>
          <a:p>
            <a:r>
              <a:rPr lang="sv-SE" b="1" dirty="0"/>
              <a:t>Skeppsdagboken</a:t>
            </a:r>
            <a:br>
              <a:rPr lang="sv-SE" b="1" dirty="0"/>
            </a:br>
            <a:r>
              <a:rPr lang="sv-SE" sz="2400" b="1" dirty="0"/>
              <a:t>högra sidan; </a:t>
            </a:r>
            <a:r>
              <a:rPr lang="sv-SE" sz="2400" b="1" dirty="0" smtClean="0"/>
              <a:t>anteckningar</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565393" y="2214694"/>
            <a:ext cx="5468748" cy="1457052"/>
          </a:xfrm>
          <a:prstGeom prst="rect">
            <a:avLst/>
          </a:prstGeom>
        </p:spPr>
      </p:pic>
      <p:sp>
        <p:nvSpPr>
          <p:cNvPr id="5" name="TextBox 4"/>
          <p:cNvSpPr txBox="1"/>
          <p:nvPr/>
        </p:nvSpPr>
        <p:spPr>
          <a:xfrm>
            <a:off x="841203" y="1512347"/>
            <a:ext cx="5254796" cy="4893647"/>
          </a:xfrm>
          <a:prstGeom prst="rect">
            <a:avLst/>
          </a:prstGeom>
          <a:noFill/>
        </p:spPr>
        <p:txBody>
          <a:bodyPr wrap="square" rtlCol="0">
            <a:spAutoFit/>
          </a:bodyPr>
          <a:lstStyle/>
          <a:p>
            <a:r>
              <a:rPr lang="sv-SE" sz="2400" dirty="0" smtClean="0"/>
              <a:t>Under </a:t>
            </a:r>
            <a:r>
              <a:rPr lang="sv-SE" sz="2400" b="1" dirty="0" smtClean="0"/>
              <a:t>Anteckningar </a:t>
            </a:r>
            <a:r>
              <a:rPr lang="sv-SE" sz="2400" dirty="0" smtClean="0"/>
              <a:t>kan all möjlig relevant information skrivas. Exempelvis sikt, våghöjd, fartygets rörelser. Men också särskilda händelser som att lotsen lämnat fartyget, att vi är färdiglastade eller reducerat farten </a:t>
            </a:r>
            <a:r>
              <a:rPr lang="sv-SE" sz="2400" dirty="0" err="1" smtClean="0"/>
              <a:t>pga</a:t>
            </a:r>
            <a:r>
              <a:rPr lang="sv-SE" sz="2400" dirty="0" smtClean="0"/>
              <a:t> trafik, med mera.</a:t>
            </a:r>
          </a:p>
          <a:p>
            <a:r>
              <a:rPr lang="sv-SE" sz="2400" dirty="0" smtClean="0"/>
              <a:t>Vill vi göra längre beskrivningar av exempelvis lastningens förlopp eller en nödsituation kan vi hänvisa till anteckningssidorna längre bak i skeppsdagboken där det finns gott om plats.</a:t>
            </a:r>
          </a:p>
        </p:txBody>
      </p:sp>
      <p:sp>
        <p:nvSpPr>
          <p:cNvPr id="6" name="TextBox 5"/>
          <p:cNvSpPr txBox="1"/>
          <p:nvPr/>
        </p:nvSpPr>
        <p:spPr>
          <a:xfrm>
            <a:off x="6565393" y="4109873"/>
            <a:ext cx="4456512" cy="1938992"/>
          </a:xfrm>
          <a:prstGeom prst="rect">
            <a:avLst/>
          </a:prstGeom>
          <a:noFill/>
        </p:spPr>
        <p:txBody>
          <a:bodyPr wrap="square" rtlCol="0">
            <a:spAutoFit/>
          </a:bodyPr>
          <a:lstStyle/>
          <a:p>
            <a:r>
              <a:rPr lang="sv-SE" sz="2400" dirty="0"/>
              <a:t>Anteckningen som görs ska ha ett klockslag om det inte överensstämmer med tid/positionsangivelsen på den vänstra sidan.</a:t>
            </a:r>
          </a:p>
        </p:txBody>
      </p:sp>
    </p:spTree>
    <p:extLst>
      <p:ext uri="{BB962C8B-B14F-4D97-AF65-F5344CB8AC3E}">
        <p14:creationId xmlns:p14="http://schemas.microsoft.com/office/powerpoint/2010/main" val="1752689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a:t>Skeppsdagboken</a:t>
            </a:r>
            <a:br>
              <a:rPr lang="sv-SE" b="1" dirty="0"/>
            </a:br>
            <a:r>
              <a:rPr lang="sv-SE" sz="2400" b="1" dirty="0"/>
              <a:t>högra sidan; </a:t>
            </a:r>
            <a:r>
              <a:rPr lang="sv-SE" sz="2400" b="1" dirty="0" smtClean="0"/>
              <a:t>tid ombord och dygnets längd</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489189" y="2214693"/>
            <a:ext cx="4837111" cy="3402335"/>
          </a:xfrm>
          <a:prstGeom prst="rect">
            <a:avLst/>
          </a:prstGeom>
        </p:spPr>
      </p:pic>
      <p:sp>
        <p:nvSpPr>
          <p:cNvPr id="5" name="TextBox 4"/>
          <p:cNvSpPr txBox="1"/>
          <p:nvPr/>
        </p:nvSpPr>
        <p:spPr>
          <a:xfrm>
            <a:off x="855718" y="2577033"/>
            <a:ext cx="5240282" cy="2677656"/>
          </a:xfrm>
          <a:prstGeom prst="rect">
            <a:avLst/>
          </a:prstGeom>
          <a:noFill/>
        </p:spPr>
        <p:txBody>
          <a:bodyPr wrap="square" rtlCol="0">
            <a:spAutoFit/>
          </a:bodyPr>
          <a:lstStyle/>
          <a:p>
            <a:r>
              <a:rPr lang="sv-SE" sz="2400" dirty="0" smtClean="0"/>
              <a:t>Nere i det vänstra hörnet ska </a:t>
            </a:r>
            <a:r>
              <a:rPr lang="sv-SE" sz="2400" b="1" dirty="0" smtClean="0"/>
              <a:t>tiden ombord </a:t>
            </a:r>
            <a:r>
              <a:rPr lang="sv-SE" sz="2400" dirty="0" smtClean="0"/>
              <a:t>anges enligt den tidszon man befinner sig i, exempelvis E 15. Om en tidszon har passerats så kan det vara dags att ställa om klockan (Brassa klockan) och då kan </a:t>
            </a:r>
            <a:r>
              <a:rPr lang="sv-SE" sz="2400" b="1" dirty="0" smtClean="0"/>
              <a:t>dygnets längd </a:t>
            </a:r>
            <a:r>
              <a:rPr lang="sv-SE" sz="2400" dirty="0" smtClean="0"/>
              <a:t>vara längre eller kortare än 24 timmar.</a:t>
            </a:r>
            <a:endParaRPr lang="sv-SE" sz="2400" dirty="0"/>
          </a:p>
        </p:txBody>
      </p:sp>
    </p:spTree>
    <p:extLst>
      <p:ext uri="{BB962C8B-B14F-4D97-AF65-F5344CB8AC3E}">
        <p14:creationId xmlns:p14="http://schemas.microsoft.com/office/powerpoint/2010/main" val="1973751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a:t>Skeppsdagboken</a:t>
            </a:r>
            <a:br>
              <a:rPr lang="sv-SE" b="1" dirty="0"/>
            </a:br>
            <a:r>
              <a:rPr lang="sv-SE" sz="2400" b="1" dirty="0"/>
              <a:t>högra sidan; </a:t>
            </a:r>
            <a:r>
              <a:rPr lang="sv-SE" sz="2400" b="1" dirty="0" smtClean="0"/>
              <a:t>utkik</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489189" y="2214693"/>
            <a:ext cx="4837111" cy="3402335"/>
          </a:xfrm>
          <a:prstGeom prst="rect">
            <a:avLst/>
          </a:prstGeom>
        </p:spPr>
      </p:pic>
      <p:sp>
        <p:nvSpPr>
          <p:cNvPr id="5" name="TextBox 4"/>
          <p:cNvSpPr txBox="1"/>
          <p:nvPr/>
        </p:nvSpPr>
        <p:spPr>
          <a:xfrm>
            <a:off x="855718" y="2577033"/>
            <a:ext cx="5240282" cy="1938992"/>
          </a:xfrm>
          <a:prstGeom prst="rect">
            <a:avLst/>
          </a:prstGeom>
          <a:noFill/>
        </p:spPr>
        <p:txBody>
          <a:bodyPr wrap="square" rtlCol="0">
            <a:spAutoFit/>
          </a:bodyPr>
          <a:lstStyle/>
          <a:p>
            <a:r>
              <a:rPr lang="sv-SE" sz="2400" dirty="0" smtClean="0"/>
              <a:t>Nere i det vänstra hörnet ska det även anges när det finns </a:t>
            </a:r>
            <a:r>
              <a:rPr lang="sv-SE" sz="2400" b="1" dirty="0" smtClean="0"/>
              <a:t>utkik posterad </a:t>
            </a:r>
            <a:r>
              <a:rPr lang="sv-SE" sz="2400" dirty="0" smtClean="0"/>
              <a:t>eftersom det finns möjligheter i regelverken att vara utan utkik under vissa förutsättningar.</a:t>
            </a:r>
            <a:endParaRPr lang="sv-SE" sz="2400" dirty="0"/>
          </a:p>
        </p:txBody>
      </p:sp>
    </p:spTree>
    <p:extLst>
      <p:ext uri="{BB962C8B-B14F-4D97-AF65-F5344CB8AC3E}">
        <p14:creationId xmlns:p14="http://schemas.microsoft.com/office/powerpoint/2010/main" val="994531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057883"/>
          </a:xfrm>
        </p:spPr>
        <p:txBody>
          <a:bodyPr/>
          <a:lstStyle/>
          <a:p>
            <a:r>
              <a:rPr lang="sv-SE" b="1" dirty="0"/>
              <a:t>Skeppsdagboken</a:t>
            </a:r>
            <a:br>
              <a:rPr lang="sv-SE" b="1" dirty="0"/>
            </a:br>
            <a:r>
              <a:rPr lang="sv-SE" sz="2400" b="1" dirty="0"/>
              <a:t>högra sidan; utkik</a:t>
            </a:r>
            <a:endParaRPr lang="sv-SE" sz="2400" dirty="0"/>
          </a:p>
        </p:txBody>
      </p:sp>
      <p:pic>
        <p:nvPicPr>
          <p:cNvPr id="4" name="Content Placeholder 3"/>
          <p:cNvPicPr>
            <a:picLocks noGrp="1" noChangeAspect="1"/>
          </p:cNvPicPr>
          <p:nvPr>
            <p:ph sz="quarter" idx="13"/>
          </p:nvPr>
        </p:nvPicPr>
        <p:blipFill>
          <a:blip r:embed="rId2"/>
          <a:stretch>
            <a:fillRect/>
          </a:stretch>
        </p:blipFill>
        <p:spPr>
          <a:xfrm>
            <a:off x="6783001" y="2858542"/>
            <a:ext cx="5079683" cy="2234985"/>
          </a:xfrm>
          <a:prstGeom prst="rect">
            <a:avLst/>
          </a:prstGeom>
        </p:spPr>
      </p:pic>
      <p:sp>
        <p:nvSpPr>
          <p:cNvPr id="5" name="TextBox 4"/>
          <p:cNvSpPr txBox="1"/>
          <p:nvPr/>
        </p:nvSpPr>
        <p:spPr>
          <a:xfrm>
            <a:off x="547301" y="1944710"/>
            <a:ext cx="6235700" cy="4062651"/>
          </a:xfrm>
          <a:prstGeom prst="rect">
            <a:avLst/>
          </a:prstGeom>
          <a:noFill/>
        </p:spPr>
        <p:txBody>
          <a:bodyPr wrap="square" rtlCol="0">
            <a:spAutoFit/>
          </a:bodyPr>
          <a:lstStyle/>
          <a:p>
            <a:r>
              <a:rPr lang="sv-SE" sz="2400" dirty="0" smtClean="0"/>
              <a:t>Nedre högra hörnet är reserverat för befälhavaren.</a:t>
            </a:r>
          </a:p>
          <a:p>
            <a:r>
              <a:rPr lang="sv-SE" sz="2400" b="1" dirty="0" smtClean="0"/>
              <a:t>Särskilda order </a:t>
            </a:r>
            <a:r>
              <a:rPr lang="sv-SE" sz="2400" dirty="0" smtClean="0"/>
              <a:t>kan skrivas som ett komplement till de stående order som brukar finnas. Exempelvis ”väck mig en timma innan lots”.</a:t>
            </a:r>
          </a:p>
          <a:p>
            <a:endParaRPr lang="sv-SE" sz="2400" dirty="0" smtClean="0"/>
          </a:p>
          <a:p>
            <a:r>
              <a:rPr lang="sv-SE" sz="2400" dirty="0" smtClean="0"/>
              <a:t>Befälhavaren är som bekant övergripande ansvarig för allt ombord. Skeppsdagbokens ifyllande ska godkännas. Befälhavaren är ansvarig för att allt som skrivs ner stämmer.  </a:t>
            </a:r>
            <a:endParaRPr lang="sv-SE" dirty="0" smtClean="0"/>
          </a:p>
          <a:p>
            <a:endParaRPr lang="sv-SE" dirty="0"/>
          </a:p>
        </p:txBody>
      </p:sp>
    </p:spTree>
    <p:extLst>
      <p:ext uri="{BB962C8B-B14F-4D97-AF65-F5344CB8AC3E}">
        <p14:creationId xmlns:p14="http://schemas.microsoft.com/office/powerpoint/2010/main" val="3837470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smtClean="0"/>
              <a:t>Skeppsdagboken</a:t>
            </a:r>
            <a:br>
              <a:rPr lang="sv-SE" b="1" dirty="0" smtClean="0"/>
            </a:br>
            <a:r>
              <a:rPr lang="sv-SE" sz="2400" b="1" dirty="0" smtClean="0"/>
              <a:t>slutsats</a:t>
            </a:r>
            <a:endParaRPr lang="sv-SE" sz="2400" dirty="0"/>
          </a:p>
        </p:txBody>
      </p:sp>
      <p:sp>
        <p:nvSpPr>
          <p:cNvPr id="3" name="Content Placeholder 2"/>
          <p:cNvSpPr>
            <a:spLocks noGrp="1"/>
          </p:cNvSpPr>
          <p:nvPr>
            <p:ph sz="quarter" idx="13"/>
          </p:nvPr>
        </p:nvSpPr>
        <p:spPr>
          <a:xfrm>
            <a:off x="914400" y="1890574"/>
            <a:ext cx="10363826" cy="4484468"/>
          </a:xfrm>
        </p:spPr>
        <p:txBody>
          <a:bodyPr>
            <a:normAutofit fontScale="85000" lnSpcReduction="20000"/>
          </a:bodyPr>
          <a:lstStyle/>
          <a:p>
            <a:pPr marL="0" indent="0">
              <a:buNone/>
            </a:pPr>
            <a:r>
              <a:rPr lang="sv-SE" sz="2400" dirty="0" smtClean="0"/>
              <a:t>Skeppsdagboken har gamla anor och i vissa delar har utvecklingen kanske sprungit ifrån den. Ändå så är den en av de viktigast sätten vi har att dokumentera verksamheten ombord</a:t>
            </a:r>
            <a:r>
              <a:rPr lang="sv-SE" sz="2400" smtClean="0"/>
              <a:t>. </a:t>
            </a:r>
          </a:p>
          <a:p>
            <a:pPr marL="0" indent="0">
              <a:buNone/>
            </a:pPr>
            <a:r>
              <a:rPr lang="sv-SE" sz="2400" smtClean="0"/>
              <a:t>Att </a:t>
            </a:r>
            <a:r>
              <a:rPr lang="sv-SE" sz="2400" dirty="0" smtClean="0"/>
              <a:t>fylla i den korrekt och tydligt kan ge myndigheter och klassningssällskap en fingervisning om att det här är ett väl fungerande fartyg. Är det däremot slarvigt och bristfälligt ifyllt betyder det ofta att resten av verksamheten har samma problem.</a:t>
            </a:r>
          </a:p>
          <a:p>
            <a:pPr marL="0" indent="0">
              <a:buNone/>
            </a:pPr>
            <a:r>
              <a:rPr lang="sv-SE" sz="2400" dirty="0" smtClean="0"/>
              <a:t>Vi fyller inte bara i dagboken för andras skull. Den är också ett sätt för oss att komma ihåg vad som hänt, exempelvis i händelse av en olycka. Vi kan då gå tillbaka och se vad som skrevs och på så sätt kunna återge ett händelseförlopp utan att vi förvränger det, medvetet eller omedvetet.</a:t>
            </a:r>
          </a:p>
          <a:p>
            <a:pPr marL="0" indent="0">
              <a:buNone/>
            </a:pPr>
            <a:r>
              <a:rPr lang="sv-SE" sz="2400" dirty="0" smtClean="0"/>
              <a:t>Skeppsdagboken kommer att hänga med oss i en eller annan form även i framtiden.</a:t>
            </a:r>
            <a:endParaRPr lang="sv-SE" sz="2400" dirty="0"/>
          </a:p>
        </p:txBody>
      </p:sp>
    </p:spTree>
    <p:extLst>
      <p:ext uri="{BB962C8B-B14F-4D97-AF65-F5344CB8AC3E}">
        <p14:creationId xmlns:p14="http://schemas.microsoft.com/office/powerpoint/2010/main" val="264617752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501</TotalTime>
  <Words>1291</Words>
  <Application>Microsoft Office PowerPoint</Application>
  <PresentationFormat>Widescreen</PresentationFormat>
  <Paragraphs>66</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Tw Cen MT</vt:lpstr>
      <vt:lpstr>Droplet</vt:lpstr>
      <vt:lpstr>Skeppsdagboken</vt:lpstr>
      <vt:lpstr>Skeppsdagboken</vt:lpstr>
      <vt:lpstr>Skeppsdagboken</vt:lpstr>
      <vt:lpstr>Skeppsdagboken Innehåll</vt:lpstr>
      <vt:lpstr>Skeppsdagboken Vänstra sidan; tid</vt:lpstr>
      <vt:lpstr>Skeppsdagboken Vänstra sidan; kurser</vt:lpstr>
      <vt:lpstr>Skeppsdagboken Vänstra sidan; avdrift, rättvisande kurs</vt:lpstr>
      <vt:lpstr>Skeppsdagboken Vänstra sidan; distanser</vt:lpstr>
      <vt:lpstr>Skeppsdagboken vänstra sidan; middagsräkning</vt:lpstr>
      <vt:lpstr>Skeppsdagboken vänstra sidan; pejlingar</vt:lpstr>
      <vt:lpstr>Skeppsdagboken vänstra sidan; skeppsljus</vt:lpstr>
      <vt:lpstr>Skeppsdagboken högra sidan; vind, lufttryck och temperatur</vt:lpstr>
      <vt:lpstr>Skeppsdagboken högra sidan; vind, lufttryck och temperatur</vt:lpstr>
      <vt:lpstr>Skeppsdagboken högra sidan; anteckningar</vt:lpstr>
      <vt:lpstr>Skeppsdagboken högra sidan; tid ombord och dygnets längd</vt:lpstr>
      <vt:lpstr>Skeppsdagboken högra sidan; utkik</vt:lpstr>
      <vt:lpstr>Skeppsdagboken högra sidan; utkik</vt:lpstr>
      <vt:lpstr>Skeppsdagboken slutsats</vt:lpstr>
    </vt:vector>
  </TitlesOfParts>
  <Company>Linnaeus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Skeppsdagboken</dc:title>
  <dc:creator>Magnus Hofvander</dc:creator>
  <cp:lastModifiedBy>Magnus Hofvander</cp:lastModifiedBy>
  <cp:revision>23</cp:revision>
  <dcterms:created xsi:type="dcterms:W3CDTF">2019-03-04T10:53:57Z</dcterms:created>
  <dcterms:modified xsi:type="dcterms:W3CDTF">2019-03-04T20:12:29Z</dcterms:modified>
</cp:coreProperties>
</file>